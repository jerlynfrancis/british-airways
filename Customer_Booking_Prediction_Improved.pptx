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600" b="1">
                <a:solidFill>
                  <a:srgbClr val="1A56DB"/>
                </a:solidFill>
              </a:defRPr>
            </a:pPr>
            <a:r>
              <a:t>Customer Booking Prediction - Improved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1A56DB"/>
                </a:solidFill>
              </a:defRPr>
            </a:pPr>
            <a:r>
              <a:t>Tuned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333333"/>
                </a:solidFill>
              </a:defRPr>
            </a:pPr>
            <a:r>
              <a:t>ROC-AUC: 0.805</a:t>
            </a: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5-Fold CV: 0.802</a:t>
            </a: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Accuracy: 0.736</a:t>
            </a:r>
          </a:p>
          <a:p>
            <a:pPr>
              <a:defRPr sz="900" b="0">
                <a:solidFill>
                  <a:srgbClr val="333333"/>
                </a:solidFill>
              </a:defRPr>
            </a:pPr>
            <a:r>
              <a:t>Best params: max_depth=12, min_samples_leaf=5</a:t>
            </a:r>
          </a:p>
          <a:p/>
          <a:p>
            <a:pPr>
              <a:defRPr sz="1100" b="1"/>
            </a:pPr>
            <a:r>
              <a:t>Top Drivers: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1. Route Enc: 31.6%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2. Origin Enc: 22.1%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3. Stay Per Lead: 4.3%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4. Length Of Stay: 4.0%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5. Flight Duration: 3.7%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 b="1">
                <a:solidFill>
                  <a:srgbClr val="D47B2A"/>
                </a:solidFill>
              </a:defRPr>
            </a:pPr>
            <a:r>
              <a:t>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333333"/>
                </a:solidFill>
              </a:defRPr>
            </a:pPr>
            <a:r>
              <a:t>ROC-AUC: 0.802</a:t>
            </a: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5-Fold CV: 0.798</a:t>
            </a:r>
          </a:p>
          <a:p>
            <a:pPr>
              <a:defRPr sz="1100" b="1">
                <a:solidFill>
                  <a:srgbClr val="333333"/>
                </a:solidFill>
              </a:defRPr>
            </a:pPr>
            <a:r>
              <a:t>Accuracy: 0.739</a:t>
            </a:r>
          </a:p>
          <a:p>
            <a:pPr>
              <a:defRPr sz="900" b="0">
                <a:solidFill>
                  <a:srgbClr val="333333"/>
                </a:solidFill>
              </a:defRPr>
            </a:pPr>
            <a:r>
              <a:t>Params: 400 trees, lr=0.05, max_depth=6</a:t>
            </a:r>
          </a:p>
          <a:p/>
          <a:p>
            <a:pPr>
              <a:defRPr sz="1100" b="1"/>
            </a:pPr>
            <a:r>
              <a:t>Top Drivers: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1. Route Enc: 13.8%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2. Origin Enc: 12.6%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3. Sales Channel: 6.7%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4. Stay Cat: 5.2%</a:t>
            </a:r>
          </a:p>
          <a:p>
            <a:pPr>
              <a:defRPr sz="1000">
                <a:solidFill>
                  <a:srgbClr val="555555"/>
                </a:solidFill>
              </a:defRPr>
            </a:pPr>
            <a:r>
              <a:t>  5. Extras Sum: 4.8%</a:t>
            </a:r>
          </a:p>
        </p:txBody>
      </p:sp>
      <p:pic>
        <p:nvPicPr>
          <p:cNvPr id="7" name="Picture 6" descr="feature_import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116128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900">
                <a:solidFill>
                  <a:srgbClr val="888888"/>
                </a:solidFill>
              </a:defRPr>
            </a:pPr>
            <a:r>
              <a:t>Improvements: target encoding for high-cardinality features | GridSearchCV tuning | cyclical hour encoding | ratio &amp; interaction features | class weighting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